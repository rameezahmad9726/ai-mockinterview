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_100_C70D1B9D.xml" ContentType="application/vnd.ms-powerpoint.comments+xml"/>
  <Override PartName="/ppt/comments/modernComment_101_A1646DDC.xml" ContentType="application/vnd.ms-powerpoint.comments+xml"/>
  <Override PartName="/ppt/comments/modernComment_102_DFE4E371.xml" ContentType="application/vnd.ms-powerpoint.comments+xml"/>
  <Override PartName="/ppt/comments/modernComment_103_A9816DFD.xml" ContentType="application/vnd.ms-powerpoint.comments+xml"/>
  <Override PartName="/ppt/comments/modernComment_106_F22B1AD3.xml" ContentType="application/vnd.ms-powerpoint.comments+xml"/>
  <Override PartName="/ppt/comments/modernComment_107_BA333199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4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3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2E6BCA9-9955-32CD-C590-3F94ACFC2649}" name="Dr. Sajid Masood" initials="DSM" userId="Dr. Sajid Masood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8/10/relationships/authors" Target="authors.xml"/></Relationships>
</file>

<file path=ppt/comments/modernComment_100_C70D1B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7BAB88-0B51-466F-B2F0-EF784141B62D}" authorId="{32E6BCA9-9955-32CD-C590-3F94ACFC2649}" created="2022-08-02T14:29:30.385">
    <pc:sldMkLst xmlns:pc="http://schemas.microsoft.com/office/powerpoint/2013/main/command">
      <pc:docMk/>
      <pc:sldMk cId="3339525021" sldId="256"/>
    </pc:sldMkLst>
    <p188:txBody>
      <a:bodyPr/>
      <a:lstStyle/>
      <a:p>
        <a:r>
          <a:rPr lang="en-PK"/>
          <a:t>It is ok</a:t>
        </a:r>
      </a:p>
    </p188:txBody>
  </p188:cm>
</p188:cmLst>
</file>

<file path=ppt/comments/modernComment_101_A1646DD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2CBDE0-84C5-4F5B-885E-FCA2F89E1B96}" authorId="{32E6BCA9-9955-32CD-C590-3F94ACFC2649}" created="2022-08-02T14:29:43.577">
    <pc:sldMkLst xmlns:pc="http://schemas.microsoft.com/office/powerpoint/2013/main/command">
      <pc:docMk/>
      <pc:sldMk cId="2707713500" sldId="257"/>
    </pc:sldMkLst>
    <p188:txBody>
      <a:bodyPr/>
      <a:lstStyle/>
      <a:p>
        <a:r>
          <a:rPr lang="en-PK"/>
          <a:t>It is ok</a:t>
        </a:r>
      </a:p>
    </p188:txBody>
  </p188:cm>
</p188:cmLst>
</file>

<file path=ppt/comments/modernComment_102_DFE4E3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3740F49-241A-4A34-934B-8F36D48706BE}" authorId="{32E6BCA9-9955-32CD-C590-3F94ACFC2649}" created="2022-08-02T14:29:56.319">
    <pc:sldMkLst xmlns:pc="http://schemas.microsoft.com/office/powerpoint/2013/main/command">
      <pc:docMk/>
      <pc:sldMk cId="3756319601" sldId="258"/>
    </pc:sldMkLst>
    <p188:txBody>
      <a:bodyPr/>
      <a:lstStyle/>
      <a:p>
        <a:r>
          <a:rPr lang="en-PK"/>
          <a:t>It is ok</a:t>
        </a:r>
      </a:p>
    </p188:txBody>
  </p188:cm>
</p188:cmLst>
</file>

<file path=ppt/comments/modernComment_103_A9816DF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C5FEBF0-D542-4F22-8C57-423B56A5CFB2}" authorId="{32E6BCA9-9955-32CD-C590-3F94ACFC2649}" created="2022-08-02T14:32:06.671">
    <pc:sldMkLst xmlns:pc="http://schemas.microsoft.com/office/powerpoint/2013/main/command">
      <pc:docMk/>
      <pc:sldMk cId="2843831805" sldId="259"/>
    </pc:sldMkLst>
    <p188:txBody>
      <a:bodyPr/>
      <a:lstStyle/>
      <a:p>
        <a:r>
          <a:rPr lang="en-PK"/>
          <a:t>Remove theoretical lens
No need of area of focus
Rest are fine</a:t>
        </a:r>
      </a:p>
    </p188:txBody>
  </p188:cm>
</p188:cmLst>
</file>

<file path=ppt/comments/modernComment_106_F22B1A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2F6C38E-FA75-4BC2-932F-F04EDA17F138}" authorId="{32E6BCA9-9955-32CD-C590-3F94ACFC2649}" created="2022-08-02T14:31:26.270">
    <pc:sldMkLst xmlns:pc="http://schemas.microsoft.com/office/powerpoint/2013/main/command">
      <pc:docMk/>
      <pc:sldMk cId="4062911187" sldId="262"/>
    </pc:sldMkLst>
    <p188:txBody>
      <a:bodyPr/>
      <a:lstStyle/>
      <a:p>
        <a:r>
          <a:rPr lang="en-PK"/>
          <a:t>Only framework is enough</a:t>
        </a:r>
      </a:p>
    </p188:txBody>
  </p188:cm>
</p188:cmLst>
</file>

<file path=ppt/comments/modernComment_107_BA3331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410EAC-F3F0-4161-A96E-E0FE77ED1B84}" authorId="{32E6BCA9-9955-32CD-C590-3F94ACFC2649}" created="2022-08-02T14:30:31.880">
    <pc:sldMkLst xmlns:pc="http://schemas.microsoft.com/office/powerpoint/2013/main/command">
      <pc:docMk/>
      <pc:sldMk cId="3123917209" sldId="263"/>
    </pc:sldMkLst>
    <p188:txBody>
      <a:bodyPr/>
      <a:lstStyle/>
      <a:p>
        <a:r>
          <a:rPr lang="en-PK"/>
          <a:t>Put research objectives prior to research questions/hypothesis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329DC-B04D-4EE1-A7EC-C3D721EAE34E}" type="datetimeFigureOut">
              <a:rPr lang="en-US" smtClean="0"/>
              <a:t>27-Mar-24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5FDDB-78A3-40A0-89DB-C9009493C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44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D5FDDB-78A3-40A0-89DB-C9009493C2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68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D5FDDB-78A3-40A0-89DB-C9009493C2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432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00F7-D5B4-4BFD-ADD1-E543FBA119F1}" type="datetime1">
              <a:rPr lang="en-US" smtClean="0"/>
              <a:t>27-Mar-24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0815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BEB09-E883-4254-8269-1922C6312C47}" type="datetime1">
              <a:rPr lang="en-US" smtClean="0"/>
              <a:t>27-Mar-24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56570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EB13D-4A29-471B-8729-2BD0D07C72A9}" type="datetime1">
              <a:rPr lang="en-US" smtClean="0"/>
              <a:t>27-Mar-24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61933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E283E-7973-4C96-B7AF-D171220265AD}" type="datetime1">
              <a:rPr lang="en-US" smtClean="0"/>
              <a:t>27-Mar-24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41192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4CDC3-777C-4430-98D5-88E2B63117EE}" type="datetime1">
              <a:rPr lang="en-US" smtClean="0"/>
              <a:t>27-Mar-24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73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3835-FF88-4C24-A54F-F3D31226CFCB}" type="datetime1">
              <a:rPr lang="en-US" smtClean="0"/>
              <a:t>27-Mar-24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35688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8777B-7552-400B-8B2D-55B88FF9C9E6}" type="datetime1">
              <a:rPr lang="en-US" smtClean="0"/>
              <a:t>27-Mar-24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9317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E3554-CC31-44DE-B4B8-02E81956F759}" type="datetime1">
              <a:rPr lang="en-US" smtClean="0"/>
              <a:t>27-Mar-24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1219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C9D96-6301-4625-BB3C-FCCBE6191727}" type="datetime1">
              <a:rPr lang="en-US" smtClean="0"/>
              <a:t>27-Mar-24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98211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8EE2D-E0D8-4FBD-A509-280F8B593644}" type="datetime1">
              <a:rPr lang="en-US" smtClean="0"/>
              <a:t>27-Mar-24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7997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3715E-AC5B-4DCF-BCA4-B8A109C97276}" type="datetime1">
              <a:rPr lang="en-US" smtClean="0"/>
              <a:t>27-Mar-24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1758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2C95C-EED1-4267-ABB7-8F05E11E0803}" type="datetime1">
              <a:rPr lang="en-US" smtClean="0"/>
              <a:t>27-Mar-24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09913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7B68-6490-485B-BAC5-07FB39467AD9}" type="datetime1">
              <a:rPr lang="en-US" smtClean="0"/>
              <a:t>27-Mar-24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66620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42027-CF36-4433-BAF6-6ED26381C55E}" type="datetime1">
              <a:rPr lang="en-US" smtClean="0"/>
              <a:t>27-Mar-24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79125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DF9F-C6A8-4278-BEFB-6B57FF9FB972}" type="datetime1">
              <a:rPr lang="en-US" smtClean="0"/>
              <a:t>27-Mar-24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1936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E03D-4E0D-4C3A-BD00-07FEC709DDE7}" type="datetime1">
              <a:rPr lang="en-US" smtClean="0"/>
              <a:t>27-Mar-24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173038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C38C2-56D9-4DE5-9A09-AB8117C3E2ED}" type="datetime1">
              <a:rPr lang="en-US" smtClean="0"/>
              <a:t>27-Mar-24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ABE615F-DEB8-4101-A4BC-EEFC03E106DE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44869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  <p:sldLayoutId id="2147483869" r:id="rId15"/>
    <p:sldLayoutId id="214748387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microsoft.com/office/2018/10/relationships/comments" Target="../comments/modernComment_100_C70D1B9D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microsoft.com/office/2018/10/relationships/comments" Target="../comments/modernComment_101_A1646DDC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microsoft.com/office/2018/10/relationships/comments" Target="../comments/modernComment_102_DFE4E37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107_BA33319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microsoft.com/office/2018/10/relationships/comments" Target="../comments/modernComment_106_F22B1AD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103_A9816DFD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3867EE-7BF1-4619-A574-71C4C97E3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995056"/>
            <a:ext cx="7766936" cy="1593272"/>
          </a:xfrm>
        </p:spPr>
        <p:txBody>
          <a:bodyPr/>
          <a:lstStyle/>
          <a:p>
            <a:r>
              <a:t>Interveux: AI-Powered Mock Interview Platform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DF053C9-A246-4ADF-8361-5DB23A272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782291"/>
            <a:ext cx="7766936" cy="1858018"/>
          </a:xfrm>
        </p:spPr>
        <p:txBody>
          <a:bodyPr>
            <a:normAutofit fontScale="85000" lnSpcReduction="20000"/>
          </a:bodyPr>
          <a:lstStyle/>
          <a:p>
            <a:r>
              <a:t>Student Name: [Your Name]</a:t>
            </a:r>
          </a:p>
          <a:p/>
          <a:p/>
          <a:p/>
          <a:p/>
          <a:p>
            <a:endParaRPr lang="x-none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t>Roll No: [Your Roll No]</a:t>
            </a:r>
          </a:p>
          <a:p>
            <a:r>
              <a:t>Supervisor: [Supervisor Name]</a:t>
            </a:r>
          </a:p>
          <a:p>
            <a:r>
              <a:t>Co-supervisor: [Co-supervisor Name]</a:t>
            </a:r>
          </a:p>
          <a:p>
            <a:r>
              <a:t>Department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33952502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0F84C6-9593-40FC-8752-ECDFC9FA5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Study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2</a:t>
            </a:fld>
            <a:endParaRPr lang="x-none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Background of the Study:</a:t>
            </a:r>
            <a:endParaRPr lang="en-US"/>
          </a:p>
          <a:p>
            <a:r>
              <a:t>• Growing need for interview preparation and objective feedback for job seekers.</a:t>
            </a:r>
          </a:p>
          <a:p>
            <a:r>
              <a:t>• Manual mock interviews are time-consuming and lack consistent, data-driven evaluation.</a:t>
            </a:r>
          </a:p>
          <a:p>
            <a:r>
              <a:t>• AI can combine speech recognition, emotion analysis, and body language to give structured feedback.</a:t>
            </a:r>
          </a:p>
          <a:p>
            <a:r>
              <a:t>This study focuses on building an integrated platform (Interveux) that:</a:t>
            </a:r>
          </a:p>
          <a:p>
            <a:r>
              <a:t>- Parses resumes and generates tailored interview questions</a:t>
            </a:r>
          </a:p>
          <a:p>
            <a:r>
              <a:t>- Conducts live TTS-based interviews with optional video recording</a:t>
            </a:r>
          </a:p>
          <a:p>
            <a:r>
              <a:t>- Analyzes uploaded interview videos for emotion, body language, speech clarity, and confidence</a:t>
            </a:r>
          </a:p>
          <a:p>
            <a:r>
              <a:t>- Produces detailed reports to help candidates improve.</a:t>
            </a:r>
          </a:p>
        </p:txBody>
      </p:sp>
    </p:spTree>
    <p:extLst>
      <p:ext uri="{BB962C8B-B14F-4D97-AF65-F5344CB8AC3E}">
        <p14:creationId xmlns:p14="http://schemas.microsoft.com/office/powerpoint/2010/main" val="270771350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575FF8-7C62-4A9A-B1E6-52FE5C07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Significance/Contribution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8C9547AD-8134-4C14-A4C1-BCA06B0EE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080743"/>
              </p:ext>
            </p:extLst>
          </p:nvPr>
        </p:nvGraphicFramePr>
        <p:xfrm>
          <a:off x="677334" y="1733296"/>
          <a:ext cx="8596668" cy="3581084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857411">
                  <a:extLst>
                    <a:ext uri="{9D8B030D-6E8A-4147-A177-3AD203B41FA5}">
                      <a16:colId xmlns="" xmlns:a16="http://schemas.microsoft.com/office/drawing/2014/main" val="1799319711"/>
                    </a:ext>
                  </a:extLst>
                </a:gridCol>
                <a:gridCol w="6739257">
                  <a:extLst>
                    <a:ext uri="{9D8B030D-6E8A-4147-A177-3AD203B41FA5}">
                      <a16:colId xmlns="" xmlns:a16="http://schemas.microsoft.com/office/drawing/2014/main" val="4224220836"/>
                    </a:ext>
                  </a:extLst>
                </a:gridCol>
              </a:tblGrid>
              <a:tr h="108946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Thesis</a:t>
                      </a:r>
                      <a:r>
                        <a:rPr lang="en-US" sz="18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Breif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x-none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472340734"/>
                  </a:ext>
                </a:extLst>
              </a:tr>
              <a:tr h="126328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Statement</a:t>
                      </a:r>
                    </a:p>
                    <a:p>
                      <a:endParaRPr lang="x-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334660759"/>
                  </a:ext>
                </a:extLst>
              </a:tr>
              <a:tr h="122832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 </a:t>
                      </a:r>
                      <a:r>
                        <a:rPr lang="en-US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SDG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x-none" sz="180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537071645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3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75631960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E1850DA-2618-48CF-A15E-E12F0B1A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4</a:t>
            </a:fld>
            <a:endParaRPr lang="x-none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Objectives:</a:t>
            </a:r>
            <a:endParaRPr lang="en-US"/>
          </a:p>
          <a:p>
            <a:r>
              <a:t>• To design and implement an AI-driven mock interview system that generates resume-based questions and conducts TTS-led interviews.</a:t>
            </a:r>
          </a:p>
          <a:p>
            <a:r>
              <a:t>• To integrate speech-to-text (Whisper), facial emotion recognition, and body pose analysis for multimodal evaluation.</a:t>
            </a:r>
          </a:p>
          <a:p>
            <a:r>
              <a:t>• To derive and present clarity, confidence, posture, and gesture metrics with actionable improvement tips.</a:t>
            </a:r>
          </a:p>
          <a:p>
            <a:r>
              <a:t>• To optimize the pipeline for speed (parallel processing, model caching, batch TTS) while maintaining accuracy.</a:t>
            </a:r>
          </a:p>
        </p:txBody>
      </p:sp>
    </p:spTree>
    <p:extLst>
      <p:ext uri="{BB962C8B-B14F-4D97-AF65-F5344CB8AC3E}">
        <p14:creationId xmlns:p14="http://schemas.microsoft.com/office/powerpoint/2010/main" val="128765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DC0FEC-3516-47FC-9794-C8BB9FED5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5</a:t>
            </a:fld>
            <a:endParaRPr lang="x-none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Questions:</a:t>
            </a:r>
            <a:endParaRPr lang="en-US"/>
          </a:p>
          <a:p>
            <a:r>
              <a:t>• How can resume text be used to automatically generate relevant technical and behavioral interview questions?</a:t>
            </a:r>
          </a:p>
          <a:p>
            <a:r>
              <a:t>• How accurately can off-the-shelf models (Whisper, emotion classifier, pose estimation) evaluate interview performance from video?</a:t>
            </a:r>
          </a:p>
          <a:p>
            <a:r>
              <a:t>• How can clarity and confidence be quantified from speech (e.g., filler words, tone analysis) and aligned in the final report?</a:t>
            </a:r>
          </a:p>
          <a:p>
            <a:r>
              <a:t>• What pipeline design (parallelization, model reuse) makes video analysis feasible for typical hardware?</a:t>
            </a:r>
          </a:p>
        </p:txBody>
      </p:sp>
    </p:spTree>
    <p:extLst>
      <p:ext uri="{BB962C8B-B14F-4D97-AF65-F5344CB8AC3E}">
        <p14:creationId xmlns:p14="http://schemas.microsoft.com/office/powerpoint/2010/main" val="312391720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97D1AB-252B-401D-AF23-2DC11EAD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Framework/Model and Hypothesis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6</a:t>
            </a:fld>
            <a:endParaRPr lang="x-none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Framework/Model and Hypothesis:</a:t>
            </a:r>
            <a:endParaRPr lang="en-US"/>
          </a:p>
          <a:p>
            <a:r>
              <a:t>• Framework: Resume upload → question generation (GPT-4o-mini) → Live interview (TTS) → Video upload → Parallel analysis (speech + emotion + body) → Report (scores + tone).</a:t>
            </a:r>
          </a:p>
          <a:p>
            <a:r>
              <a:t>• Models: Whisper (tiny) for STT; dima806/facial_emotions_image_detection for emotion; MediaPipe Pose for body; GPT-4o-mini for questions, diarization, and tone.</a:t>
            </a:r>
          </a:p>
          <a:p>
            <a:r>
              <a:t>• Hypothesis: Combining rule-based metrics (e.g., clarity from filler count) with LLM-based tone analysis and aligning them (e.g., not contradicting high clarity) improves perceived consistency and usefulness of feedback.</a:t>
            </a:r>
          </a:p>
        </p:txBody>
      </p:sp>
    </p:spTree>
    <p:extLst>
      <p:ext uri="{BB962C8B-B14F-4D97-AF65-F5344CB8AC3E}">
        <p14:creationId xmlns:p14="http://schemas.microsoft.com/office/powerpoint/2010/main" val="406291118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D7FE18-21A2-4A79-80B8-A47FA1390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E615F-DEB8-4101-A4BC-EEFC03E106DE}" type="slidenum">
              <a:rPr lang="x-none" smtClean="0"/>
              <a:t>7</a:t>
            </a:fld>
            <a:endParaRPr lang="x-none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Methodology:</a:t>
            </a:r>
            <a:endParaRPr lang="en-US"/>
          </a:p>
          <a:p>
            <a:r>
              <a:t>• Development: FastAPI backend (Python), React frontend; OpenAI API for GPT-4o-mini and TTS; open-source Whisper, Hugging Face emotion model, MediaPipe.</a:t>
            </a:r>
          </a:p>
          <a:p>
            <a:r>
              <a:t>• Video processing: Extract frames (1 FPS) and audio in parallel; run speech, emotion, and body analysis in parallel; load Whisper on main thread to avoid failures.</a:t>
            </a:r>
          </a:p>
          <a:p>
            <a:r>
              <a:t>• Metrics: Clarity = f(filler words); posture = shoulder alignment; movement = hand displacement; confidence/tone = LLM over interviewee transcript.</a:t>
            </a:r>
          </a:p>
          <a:p>
            <a:r>
              <a:t>• Validation: Functional testing of full flow; comparison of model-reported accuracy (e.g., Whisper WER, emotion precision) with literature.</a:t>
            </a:r>
          </a:p>
        </p:txBody>
      </p:sp>
    </p:spTree>
    <p:extLst>
      <p:ext uri="{BB962C8B-B14F-4D97-AF65-F5344CB8AC3E}">
        <p14:creationId xmlns:p14="http://schemas.microsoft.com/office/powerpoint/2010/main" val="28438318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2"/>
    </p:ext>
  </p:extLs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10917</TotalTime>
  <Words>48</Words>
  <Application>Microsoft Office PowerPoint</Application>
  <PresentationFormat>Widescreen</PresentationFormat>
  <Paragraphs>23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Times New Roman</vt:lpstr>
      <vt:lpstr>Trebuchet MS</vt:lpstr>
      <vt:lpstr>Wingdings 3</vt:lpstr>
      <vt:lpstr>Facet</vt:lpstr>
      <vt:lpstr>Title </vt:lpstr>
      <vt:lpstr>Background of the Study</vt:lpstr>
      <vt:lpstr>Significance/Contribution</vt:lpstr>
      <vt:lpstr>Research Objectives </vt:lpstr>
      <vt:lpstr>Research Questions </vt:lpstr>
      <vt:lpstr>Research Framework/Model and Hypothesis</vt:lpstr>
      <vt:lpstr>Research Methodology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Rabia Aslam Khan</dc:creator>
  <cp:lastModifiedBy>WB</cp:lastModifiedBy>
  <cp:revision>68</cp:revision>
  <dcterms:created xsi:type="dcterms:W3CDTF">2022-08-02T11:00:54Z</dcterms:created>
  <dcterms:modified xsi:type="dcterms:W3CDTF">2024-03-27T05:15:04Z</dcterms:modified>
</cp:coreProperties>
</file>